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8B5CF6"/>
                </a:solidFill>
              </a:defRPr>
            </a:pPr>
            <a:r>
              <a:t>Multi-View Internal State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8B5CF6"/>
                </a:solidFill>
              </a:defRPr>
            </a:pPr>
            <a:r>
              <a:t>for LLM Probing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563EB"/>
                </a:solidFill>
              </a:defRPr>
            </a:pPr>
            <a:r>
              <a:t>NeurIPS 2026 — Progress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</a:defRPr>
            </a:pPr>
            <a:r>
              <a:t>Junyi Chen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Problem: Probing Methods Are Fragmented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563EB"/>
                </a:solidFill>
              </a:defRPr>
            </a:pPr>
            <a:r>
              <a:t>What is probing?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给LLM一个prompt，提取内部状态，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训练分类器预测：</a:t>
            </a:r>
          </a:p>
          <a:p>
            <a:pPr algn="l">
              <a:spcBef>
                <a:spcPts val="1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  • 回答是否正确？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  • 是否需要工具？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  • 是否在幻觉？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  • 问题有多难？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DC2626"/>
                </a:solidFill>
              </a:defRPr>
            </a:pPr>
            <a:r>
              <a:t>现状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12+ probing方法各自为政：</a:t>
            </a:r>
          </a:p>
          <a:p>
            <a:pPr algn="l">
              <a:spcBef>
                <a:spcPts val="1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  • 每个用不同的内部信号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  • 每个在不同数据集上评测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  • 从不跟其他方法融合</a:t>
            </a:r>
          </a:p>
          <a:p>
            <a:pPr algn="l">
              <a:spcBef>
                <a:spcPts val="20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800"/>
              </a:spcBef>
              <a:spcAft>
                <a:spcPts val="400"/>
              </a:spcAft>
              <a:defRPr sz="2200" b="1">
                <a:solidFill>
                  <a:srgbClr val="8B5CF6"/>
                </a:solidFill>
              </a:defRPr>
            </a:pPr>
            <a:r>
              <a:t>我们的问题: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200" b="1">
                <a:solidFill>
                  <a:srgbClr val="8B5CF6"/>
                </a:solidFill>
              </a:defRPr>
            </a:pPr>
            <a:r>
              <a:t>能否融合多种probing方法,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2200" b="1">
                <a:solidFill>
                  <a:srgbClr val="8B5CF6"/>
                </a:solidFill>
              </a:defRPr>
            </a:pPr>
            <a:r>
              <a:t>超过任何单一方法？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特征来源 (1/2): 从LLM直接提取的Raw内部状态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</a:defRPr>
            </a:pPr>
            <a:r>
              <a:t>对每个样本，跑Qwen2.5-7B forward pass，在每一层放hook截取：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8B5CF6"/>
                </a:solidFill>
              </a:defRPr>
            </a:pPr>
            <a:r>
              <a:t>表示类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600" b="0">
                <a:solidFill>
                  <a:srgbClr val="6B7280"/>
                </a:solidFill>
              </a:defRPr>
            </a:pPr>
            <a:r>
              <a:t>Hidden state vectors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1700" b="1">
                <a:solidFill>
                  <a:srgbClr val="1E1E1E"/>
                </a:solidFill>
              </a:defRPr>
            </a:pPr>
            <a:r>
              <a:t>input_last_token_hidden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30层 × 3584维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最后一个prompt token的表示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1700" b="1">
                <a:solidFill>
                  <a:srgbClr val="1E1E1E"/>
                </a:solidFill>
              </a:defRPr>
            </a:pPr>
            <a:r>
              <a:t>input_mean_pool_hidden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30层 × 3584维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所有prompt token的平均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1700" b="0">
                <a:solidFill>
                  <a:srgbClr val="1E1E1E"/>
                </a:solidFill>
              </a:defRPr>
            </a:pPr>
            <a:r>
              <a:t>gen侧同理 ×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5544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563EB"/>
                </a:solidFill>
              </a:defRPr>
            </a:pPr>
            <a:r>
              <a:t>注意力类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600" b="0">
                <a:solidFill>
                  <a:srgbClr val="6B7280"/>
                </a:solidFill>
              </a:defRPr>
            </a:pPr>
            <a:r>
              <a:t>Attention patterns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1700" b="1">
                <a:solidFill>
                  <a:srgbClr val="1E1E1E"/>
                </a:solidFill>
              </a:defRPr>
            </a:pPr>
            <a:r>
              <a:t>per_head_activation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28层 × 28头 × 128维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1700" b="1">
                <a:solidFill>
                  <a:srgbClr val="1E1E1E"/>
                </a:solidFill>
              </a:defRPr>
            </a:pPr>
            <a:r>
              <a:t>attn_stats (skew/entropy/diag)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28层 × 28头 × 3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1700" b="1">
                <a:solidFill>
                  <a:srgbClr val="1E1E1E"/>
                </a:solidFill>
              </a:defRPr>
            </a:pPr>
            <a:r>
              <a:t>attn_value_norms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28层 × 28头 × 变长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1700" b="0">
                <a:solidFill>
                  <a:srgbClr val="1E1E1E"/>
                </a:solidFill>
              </a:defRPr>
            </a:pPr>
            <a:r>
              <a:t>gen侧attn_stats ×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059669"/>
                </a:solidFill>
              </a:defRPr>
            </a:pPr>
            <a:r>
              <a:t>置信度类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600" b="0">
                <a:solidFill>
                  <a:srgbClr val="6B7280"/>
                </a:solidFill>
              </a:defRPr>
            </a:pPr>
            <a:r>
              <a:t>Logit distribution stats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1700" b="1">
                <a:solidFill>
                  <a:srgbClr val="1E1E1E"/>
                </a:solidFill>
              </a:defRPr>
            </a:pPr>
            <a:r>
              <a:t>input_logit_stats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entropy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max_prob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logsumexp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1700" b="1">
                <a:solidFill>
                  <a:srgbClr val="1E1E1E"/>
                </a:solidFill>
              </a:defRPr>
            </a:pPr>
            <a:r>
              <a:t>gen_logit_stats</a:t>
            </a:r>
          </a:p>
          <a:p>
            <a:pPr algn="l">
              <a:spcBef>
                <a:spcPts val="200"/>
              </a:spcBef>
              <a:spcAft>
                <a:spcPts val="400"/>
              </a:spcAft>
              <a:defRPr sz="1500" b="0">
                <a:solidFill>
                  <a:srgbClr val="6B7280"/>
                </a:solidFill>
              </a:defRPr>
            </a:pPr>
            <a:r>
              <a:t>同上 × 3个标量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</a:defRPr>
            </a:pPr>
            <a:r>
              <a:t>共 10 种 raw feature source，覆盖模型的表示、注意力、置信度三个计算维度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特征来源 (2/2): 12个Baseline方法的处理输出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</a:defRPr>
            </a:pPr>
            <a:r>
              <a:t>每个方法拿上述raw特征，做自己定义的后处理，输出预测概率：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51560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4747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来源 (用了哪个raw特征)</a:t>
                      </a:r>
                    </a:p>
                  </a:txBody>
                  <a:tcPr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后处理方式</a:t>
                      </a:r>
                    </a:p>
                  </a:txBody>
                  <a:tcPr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选层策略</a:t>
                      </a:r>
                    </a:p>
                  </a:txBody>
                  <a:tcPr>
                    <a:solidFill>
                      <a:srgbClr val="8B5CF6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LR Probe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input_last_token_hidden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直接训LR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选val上最好的1层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PCA+LR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input_last_token_hidden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PCA降维 → 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选最好的1层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ITI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per_head_activation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找informative head → probe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选最好的1层1头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KB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input_last_token_hidden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2层MLP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固定中间层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Attn Satisfies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attn_value_norms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直接作为scorer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搜索层+头组合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LLM-Check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attn_stats (diagonal)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注意力对角线均值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搜索最好层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SEP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gen_last_token_hidden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选层范围 → LR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搜索最好层范围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gen_per_token_hidden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MLP scorer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最后1层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MM Probe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input_last_token_hidden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均值中心化 → 方向投影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选最好层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4748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CoE/SeaKR/LID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各种geometric scores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无监督打分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无需训练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4864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defRPr sz="1900" b="1">
                <a:solidFill>
                  <a:srgbClr val="DC2626"/>
                </a:solidFill>
              </a:defRPr>
            </a:pPr>
            <a:r>
              <a:t>共同点: 每个方法只用了部分raw特征，只选了少数几层，错误模式各不相同</a:t>
            </a:r>
          </a:p>
          <a:p>
            <a:pPr algn="ctr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8B5CF6"/>
                </a:solidFill>
              </a:defRPr>
            </a:pPr>
            <a:r>
              <a:t>我们: 融合其中7个方法的OOF输出作为额外的feature source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方法 Stage 1: 对每种Raw特征的每一层训练Probe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6B7280"/>
                </a:solidFill>
              </a:defRPr>
            </a:pPr>
            <a:r>
              <a:t>以 input_last_token_hidden (30层 × 3584维) 为例：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  <a:r>
              <a:t>Layer 0:  features (3584d) → Scaler → PCA (512d) → C调参 → 5-fold LR → OOF概率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  <a:r>
              <a:t>Layer 2:  features (3584d) → Scaler → PCA (512d) → C调参 → 5-fold LR → OOF概率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  <a:r>
              <a:t>Layer 4:  ...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800" b="0">
                <a:solidFill>
                  <a:srgbClr val="1E1E1E"/>
                </a:solidFill>
              </a:defRPr>
            </a:pPr>
            <a:r>
              <a:t>Layer 28: features (3584d) → Scaler → PCA (512d) → C调参 → 5-fold LR → OOF概率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8B5CF6"/>
                </a:solidFill>
              </a:defRPr>
            </a:pPr>
            <a:r>
              <a:t>→ 这一个source产出 15层 × K类 个OOF概率值</a:t>
            </a:r>
          </a:p>
          <a:p>
            <a:pPr algn="l">
              <a:spcBef>
                <a:spcPts val="1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8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对全部10种raw features重复同样操作 (层间距根据feature type调整)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加上7个baseline方法的OOF输出</a:t>
            </a:r>
          </a:p>
          <a:p>
            <a:pPr algn="l">
              <a:spcBef>
                <a:spcPts val="1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800"/>
              </a:spcBef>
              <a:spcAft>
                <a:spcPts val="400"/>
              </a:spcAft>
              <a:defRPr sz="1700" b="0">
                <a:solidFill>
                  <a:srgbClr val="2563EB"/>
                </a:solidFill>
              </a:defRPr>
            </a:pPr>
            <a:r>
              <a:t>OOF = Out-of-Fold: 每个样本的预测来自没见过它的模型，保证无leakage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方法 Stage 2: 拼接所有OOF概率 → Meta分类器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1E1E1E"/>
                </a:solidFill>
              </a:defRPr>
            </a:pPr>
            <a:r>
              <a:t>把所有view的OOF概率横向拼接: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144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700" b="0">
                <a:solidFill>
                  <a:srgbClr val="8B5CF6"/>
                </a:solidFill>
              </a:defRPr>
            </a:pPr>
            <a:r>
              <a:t>repr_input_last:   15层 × K类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8B5CF6"/>
                </a:solidFill>
              </a:defRPr>
            </a:pPr>
            <a:r>
              <a:t>repr_input_mean:   15层 × K类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8B5CF6"/>
                </a:solidFill>
              </a:defRPr>
            </a:pPr>
            <a:r>
              <a:t>repr_gen_last:     15层 × K类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8B5CF6"/>
                </a:solidFill>
              </a:defRPr>
            </a:pPr>
            <a:r>
              <a:t>repr_gen_mean:     15层 × K类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2563EB"/>
                </a:solidFill>
              </a:defRPr>
            </a:pPr>
            <a:r>
              <a:t>attn_head_act:      7层 × K类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2563EB"/>
                </a:solidFill>
              </a:defRPr>
            </a:pPr>
            <a:r>
              <a:t>attn_stats + vnorms + gen_stats: 84层 × K类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059669"/>
                </a:solidFill>
              </a:defRPr>
            </a:pPr>
            <a:r>
              <a:t>conf_input + conf_gen: 2 × K类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EA580C"/>
                </a:solidFill>
              </a:defRPr>
            </a:pPr>
            <a:r>
              <a:t>7个baseline方法: 7 × K类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1E1E1E"/>
                </a:solidFill>
              </a:defRPr>
            </a:pPr>
            <a:r>
              <a:t>→ 共 300~800 个 meta-features (取决于K=类别数)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800"/>
              </a:spcBef>
              <a:spcAft>
                <a:spcPts val="400"/>
              </a:spcAft>
              <a:defRPr sz="2200" b="1">
                <a:solidFill>
                  <a:srgbClr val="8B5CF6"/>
                </a:solidFill>
              </a:defRPr>
            </a:pPr>
            <a:r>
              <a:t>→ StandardScaler → Ridge Logistic Regression (C用CV选) → 最终预测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800"/>
              </a:spcBef>
              <a:spcAft>
                <a:spcPts val="400"/>
              </a:spcAft>
              <a:defRPr sz="2000" b="1">
                <a:solidFill>
                  <a:srgbClr val="059669"/>
                </a:solidFill>
              </a:defRPr>
            </a:pPr>
            <a:r>
              <a:t>全部线性模型。零per-dataset人工调参。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Experiment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563EB"/>
                </a:solidFill>
              </a:defRPr>
            </a:pPr>
            <a:r>
              <a:t>模型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Qwen2.5-7B-Instruct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6B7280"/>
                </a:solidFill>
              </a:defRPr>
            </a:pPr>
            <a:r>
              <a:t>bfloat16, 2×A100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6B7280"/>
                </a:solidFill>
              </a:defRPr>
            </a:pPr>
            <a:r>
              <a:t>2-pass extraction (generate → replay)</a:t>
            </a:r>
          </a:p>
          <a:p>
            <a:pPr algn="l">
              <a:spcBef>
                <a:spcPts val="20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2563EB"/>
                </a:solidFill>
              </a:defRPr>
            </a:pPr>
            <a:r>
              <a:t>Baselines: 12个复现方法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全部忠实复现自原论文代码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6B7280"/>
                </a:solidFill>
              </a:defRPr>
            </a:pPr>
            <a:r>
              <a:t>经Codex代码审核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563EB"/>
                </a:solidFill>
              </a:defRPr>
            </a:pPr>
            <a:r>
              <a:t>9个分类数据集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8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Binary (5个):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1E1E1E"/>
                </a:solidFill>
              </a:defRPr>
            </a:pPr>
            <a:r>
              <a:t>  GoT Cities, MetaTool, RetrievalQA,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1E1E1E"/>
                </a:solidFill>
              </a:defRPr>
            </a:pPr>
            <a:r>
              <a:t>  FAVA, RAGTruth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Multi-class (4个):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1E1E1E"/>
                </a:solidFill>
              </a:defRPr>
            </a:pPr>
            <a:r>
              <a:t>  common_claim (3c), When2Call (3c),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1E1E1E"/>
                </a:solidFill>
              </a:defRPr>
            </a:pPr>
            <a:r>
              <a:t>  E2H AMC (3c), E2H AMC (5c)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每个数据集 800–3,500 训练样本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指标: AUROC + bootstrap 95% CI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09728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Best Single Probe</a:t>
                      </a:r>
                    </a:p>
                  </a:txBody>
                  <a:tcPr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Fusion</a:t>
                      </a:r>
                    </a:p>
                  </a:txBody>
                  <a:tcPr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>
                    <a:solidFill>
                      <a:srgbClr val="8B5C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GoT Cities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factuality (2c)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0.999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−0.07% (饱和)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MetaTool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tool need (2c)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0.998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−0.25% (饱和)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RetrievalQA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retrieval (2c)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0.939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0.946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+0.66%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common_claim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factuality (3c)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0.758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+1.88%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E2H AMC 3c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difficulty (3c)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0.893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+2.06%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E2H AMC 5c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difficulty (5c)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+2.28%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When2Call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routing (3c)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0.874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0.938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+6.41%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FAVA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hallucination (2c)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+0.51%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RAGTruth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hallucination (2c)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0.881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0.885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+0.42%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8B5CF6"/>
                </a:solidFill>
              </a:defRPr>
            </a:pPr>
            <a:r>
              <a:t>7/7 非饱和数据集全部提升  |  Wilcoxon p = 0.0098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</a:defRPr>
            </a:pPr>
            <a:r>
              <a:t>两个loss是baseline已≈1.0的饱和数据集，无提升空间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为什么When2Call能提升6.41%?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563EB"/>
                </a:solidFill>
              </a:defRPr>
            </a:pPr>
            <a:r>
              <a:t>When2Call: 3类tool routing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6B7280"/>
                </a:solidFill>
              </a:defRPr>
            </a:pPr>
            <a:r>
              <a:t>不用工具 / 计算器 / 搜索引擎</a:t>
            </a:r>
          </a:p>
          <a:p>
            <a:pPr algn="l">
              <a:spcBef>
                <a:spcPts val="20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Last-token (只看最后一个token):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1E1E1E"/>
                </a:solidFill>
              </a:defRPr>
            </a:pPr>
            <a:r>
              <a:t>  AUROC = 0.904</a:t>
            </a:r>
          </a:p>
          <a:p>
            <a:pPr algn="l">
              <a:spcBef>
                <a:spcPts val="1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Mean-pool (看全部token的平均):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059669"/>
                </a:solidFill>
              </a:defRPr>
            </a:pPr>
            <a:r>
              <a:t>  AUROC = 0.933  (+2.9%)</a:t>
            </a:r>
          </a:p>
          <a:p>
            <a:pPr algn="l">
              <a:spcBef>
                <a:spcPts val="1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1800" b="0">
                <a:solidFill>
                  <a:srgbClr val="6B7280"/>
                </a:solidFill>
              </a:defRPr>
            </a:pPr>
            <a:r>
              <a:t>Routing需要理解整个prompt的意图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800" b="0">
                <a:solidFill>
                  <a:srgbClr val="6B7280"/>
                </a:solidFill>
              </a:defRPr>
            </a:pPr>
            <a:r>
              <a:t>不能只看最后一个token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去掉某个view后AUROC下降多少:</a:t>
            </a:r>
          </a:p>
          <a:p>
            <a:pPr algn="l">
              <a:spcBef>
                <a:spcPts val="1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DC2626"/>
                </a:solidFill>
              </a:defRPr>
            </a:pPr>
            <a:r>
              <a:t>去掉mean-pool:        −2.26%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去掉last-token:        −0.46%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去掉gen mean-pool:    −0.17%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去掉head activation:  −0.12%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去掉probe methods:    −0.07%</a:t>
            </a:r>
          </a:p>
          <a:p>
            <a:pPr algn="l">
              <a:spcBef>
                <a:spcPts val="20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1">
                <a:solidFill>
                  <a:srgbClr val="8B5CF6"/>
                </a:solidFill>
              </a:defRPr>
            </a:pPr>
            <a:r>
              <a:t>Mean-pooled prompt hidden state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1">
                <a:solidFill>
                  <a:srgbClr val="8B5CF6"/>
                </a:solidFill>
              </a:defRPr>
            </a:pPr>
            <a:r>
              <a:t>= 最重要的互补信号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800" b="0">
                <a:solidFill>
                  <a:srgbClr val="6B7280"/>
                </a:solidFill>
              </a:defRPr>
            </a:pPr>
            <a:r>
              <a:t>之前没有probing方法系统地用过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Main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8B5CF6"/>
                </a:solidFill>
              </a:defRPr>
            </a:pPr>
            <a:r>
              <a:t>1. 不同probing方法的错误模式确实不同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简单线性融合即可显著提升 (7/7非饱和数据集, p=0.0098)</a:t>
            </a:r>
          </a:p>
          <a:p>
            <a:pPr algn="l">
              <a:spcBef>
                <a:spcPts val="20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2400" b="1">
                <a:solidFill>
                  <a:srgbClr val="8B5CF6"/>
                </a:solidFill>
              </a:defRPr>
            </a:pPr>
            <a:r>
              <a:t>2. Mean-pooled prompt表示是最强的互补信号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现有方法全部用last-token，没有人系统用mean-pool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在routing任务上比last-token强2.9%</a:t>
            </a:r>
          </a:p>
          <a:p>
            <a:pPr algn="l">
              <a:spcBef>
                <a:spcPts val="20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2400" b="1">
                <a:solidFill>
                  <a:srgbClr val="8B5CF6"/>
                </a:solidFill>
              </a:defRPr>
            </a:pPr>
            <a:r>
              <a:t>3. 哪种view重要取决于任务类型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Routing → mean-pool / Hallucination → probes+attn / Difficulty → hidden+heads</a:t>
            </a:r>
          </a:p>
          <a:p>
            <a:pPr algn="l">
              <a:spcBef>
                <a:spcPts val="20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2400" b="1">
                <a:solidFill>
                  <a:srgbClr val="8B5CF6"/>
                </a:solidFill>
              </a:defRPr>
            </a:pPr>
            <a:r>
              <a:t>4. 小数据集 (800-3500样本) 下线性模型最优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900" b="0">
                <a:solidFill>
                  <a:srgbClr val="1E1E1E"/>
                </a:solidFill>
              </a:defRPr>
            </a:pPr>
            <a:r>
              <a:t>Neural fusion (493K参数) 全部失败: −2% ~ −9%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DC2626"/>
                </a:solidFill>
              </a:defRPr>
            </a:pPr>
            <a:r>
              <a:t>局限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• 只用了1个LLM (Qwen2.5-7B)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6B7280"/>
                </a:solidFill>
              </a:defRPr>
            </a:pPr>
            <a:r>
              <a:t>  需要第2个模型验证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• 只做了分类任务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6B7280"/>
                </a:solidFill>
              </a:defRPr>
            </a:pPr>
            <a:r>
              <a:t>  回归/multi-label未测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• 方法novelty一般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6B7280"/>
                </a:solidFill>
              </a:defRPr>
            </a:pPr>
            <a:r>
              <a:t>  价值在findings不在架构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059669"/>
                </a:solidFill>
              </a:defRPr>
            </a:pPr>
            <a:r>
              <a:t>下一步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4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1. 写论文 (数据和分析已ready)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2. 跑第2个模型 (impact最大)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6B7280"/>
                </a:solidFill>
              </a:defRPr>
            </a:pPr>
            <a:r>
              <a:t>   Llama-3-8B 或 Qwen2.5-3B</a:t>
            </a:r>
          </a:p>
          <a:p>
            <a:pPr algn="l">
              <a:spcBef>
                <a:spcPts val="12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  <a:r>
              <a:t>3. 更深入的分析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700" b="0">
                <a:solidFill>
                  <a:srgbClr val="6B7280"/>
                </a:solidFill>
              </a:defRPr>
            </a:pPr>
            <a:r>
              <a:t>   Layer-wise pattern, error cases</a:t>
            </a:r>
          </a:p>
          <a:p>
            <a:pPr algn="l">
              <a:spcBef>
                <a:spcPts val="1600"/>
              </a:spcBef>
              <a:spcAft>
                <a:spcPts val="400"/>
              </a:spcAft>
              <a:defRPr sz="2000" b="0">
                <a:solidFill>
                  <a:srgbClr val="1E1E1E"/>
                </a:solidFill>
              </a:defRPr>
            </a:pPr>
          </a:p>
          <a:p>
            <a:pPr algn="l">
              <a:spcBef>
                <a:spcPts val="600"/>
              </a:spcBef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Target: NeurIPS 2026 (~May)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B5CF6"/>
                </a:solidFill>
              </a:defRPr>
            </a:pPr>
            <a:r>
              <a:t>Thank You /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</a:defRPr>
            </a:pPr>
            <a:r>
              <a:t>12 baselines × 9 datasets × 11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</a:defRPr>
            </a:pPr>
            <a:r>
              <a:t>7/7 wins  |  p = 0.0098  |  When2Call +6.41%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